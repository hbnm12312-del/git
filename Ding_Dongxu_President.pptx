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publican_ral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80823">
              <a:alpha val="120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365" cy="7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1000"/>
            <a:ext cx="12191365" cy="7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0000"/>
            <a:ext cx="12191365" cy="2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58000"/>
            <a:ext cx="12191365" cy="2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000" y="800000"/>
            <a:ext cx="1059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4AF37"/>
                </a:solidFill>
                <a:latin typeface="Microsoft YaHei"/>
              </a:defRPr>
            </a:pPr>
            <a:r>
              <a:t>REPUBLICAN NATIONAL COMMITTEE · 共和党全国委员会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1200000"/>
            <a:ext cx="1059136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丁 东 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1900000"/>
            <a:ext cx="1059136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DING DONGXU</a:t>
            </a:r>
          </a:p>
        </p:txBody>
      </p:sp>
      <p:pic>
        <p:nvPicPr>
          <p:cNvPr id="11" name="Picture 10" descr="user_photo_slid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682" y="2950000"/>
            <a:ext cx="1200000" cy="12000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5495682" y="2950000"/>
            <a:ext cx="1200000" cy="1200000"/>
          </a:xfrm>
          <a:prstGeom prst="ellipse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000" y="2500000"/>
            <a:ext cx="105913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F37"/>
                </a:solidFill>
                <a:latin typeface="Microsoft YaHei"/>
              </a:defRPr>
            </a:pPr>
            <a:r>
              <a:t>让美国再次伟大 · MAKE AMERICA GREAT AGAIN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00" y="2950000"/>
            <a:ext cx="1059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BEBF0"/>
                </a:solidFill>
                <a:latin typeface="Microsoft YaHei"/>
              </a:defRPr>
            </a:pPr>
            <a:r>
              <a:t>美国总统候选人 · Republican Candidate for President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" y="3800000"/>
            <a:ext cx="10591365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F37"/>
                </a:solidFill>
                <a:latin typeface="Microsoft YaHei"/>
              </a:defRPr>
            </a:pPr>
            <a:r>
              <a:t>★   ★   ★   ★  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00" y="4100000"/>
            <a:ext cx="1059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C8D2"/>
                </a:solidFill>
                <a:latin typeface="Microsoft YaHei"/>
              </a:defRPr>
            </a:pPr>
            <a:r>
              <a:t>基层议员 | 纽约州长 | 副总统 | 总统候选人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00" y="4350000"/>
            <a:ext cx="1059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A"/>
                </a:solidFill>
                <a:latin typeface="Microsoft YaHei"/>
              </a:defRPr>
            </a:pPr>
            <a:r>
              <a:t>Councilman | NY Governor | VP | Presidential Candidate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95682" y="5100000"/>
            <a:ext cx="5000000" cy="500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95682" y="5100000"/>
            <a:ext cx="5000000" cy="5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5682" y="5150000"/>
            <a:ext cx="4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F37"/>
                </a:solidFill>
                <a:latin typeface="Microsoft YaHei"/>
              </a:defRPr>
            </a:pPr>
            <a:r>
              <a:t>让美国再次伟大 · MAKE AMERICA GREAT AGAIN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s_capit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80823">
              <a:alpha val="050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0000" y="300000"/>
            <a:ext cx="4000000" cy="6058000"/>
          </a:xfrm>
          <a:prstGeom prst="roundRect">
            <a:avLst/>
          </a:prstGeom>
          <a:solidFill>
            <a:srgbClr val="0F0F32">
              <a:alpha val="80000000"/>
            </a:srgbClr>
          </a:solidFill>
          <a:ln w="1905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0"/>
            <a:ext cx="3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关于我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950000"/>
            <a:ext cx="3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F37"/>
                </a:solidFill>
                <a:latin typeface="Microsoft YaHei"/>
              </a:defRPr>
            </a:pPr>
            <a:r>
              <a:t>ABOUT ME</a:t>
            </a:r>
          </a:p>
        </p:txBody>
      </p:sp>
      <p:pic>
        <p:nvPicPr>
          <p:cNvPr id="7" name="Picture 6" descr="285d1b8cc9e3bb597bb381e7e5459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000" y="1500000"/>
            <a:ext cx="1700000" cy="17000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550000" y="1500000"/>
            <a:ext cx="1700000" cy="1700000"/>
          </a:xfrm>
          <a:prstGeom prst="ellipse">
            <a:avLst/>
          </a:prstGeom>
          <a:noFill/>
          <a:ln w="5080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0000" y="2400000"/>
            <a:ext cx="1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AF37"/>
                </a:solidFill>
                <a:latin typeface="Microsoft YaHei"/>
              </a:defRPr>
            </a:pPr>
            <a:r>
              <a:t>Ding Dongxu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0000" y="2680000"/>
            <a:ext cx="1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  <a:latin typeface="Microsoft YaHei"/>
              </a:defRPr>
            </a:pPr>
            <a:r>
              <a:t>1970 -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3650000"/>
            <a:ext cx="3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F37"/>
                </a:solidFill>
                <a:latin typeface="Microsoft YaHei"/>
              </a:defRPr>
            </a:pPr>
            <a:r>
              <a:t>教育背景  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3900000"/>
            <a:ext cx="3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BEBF0"/>
                </a:solidFill>
                <a:latin typeface="Microsoft YaHei"/>
              </a:defRPr>
            </a:pPr>
            <a:r>
              <a:t>▸  西安航空学院  Xi'an Aviation College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4150000"/>
            <a:ext cx="3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BEBF0"/>
                </a:solidFill>
                <a:latin typeface="Microsoft YaHei"/>
              </a:defRPr>
            </a:pPr>
            <a:r>
              <a:t>▸  上海交通大学硕士  SJTU Master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00" y="4400000"/>
            <a:ext cx="3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BEBF0"/>
                </a:solidFill>
                <a:latin typeface="Microsoft YaHei"/>
              </a:defRPr>
            </a:pPr>
            <a:r>
              <a:t>▸  哈佛大学博士  Harvard Ph.D.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000" y="500000"/>
            <a:ext cx="699136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从政经历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000" y="880000"/>
            <a:ext cx="699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Microsoft YaHei"/>
              </a:defRPr>
            </a:pPr>
            <a:r>
              <a:t>POLITICAL CAREER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000" y="1180000"/>
            <a:ext cx="600000" cy="5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0000" y="1450000"/>
            <a:ext cx="4000" cy="4700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90000" y="1450000"/>
            <a:ext cx="130000" cy="13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0000" y="1400000"/>
            <a:ext cx="674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AF37"/>
                </a:solidFill>
                <a:latin typeface="Microsoft YaHei"/>
              </a:defRPr>
            </a:pPr>
            <a:r>
              <a:t>2000-2006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0000" y="1650000"/>
            <a:ext cx="674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基层议员  Councilman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0000" y="1930000"/>
            <a:ext cx="674136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Microsoft YaHei"/>
              </a:defRPr>
            </a:pPr>
            <a:r>
              <a:t>从基层起步，深入社区，倾听每一个选民的声音</a:t>
            </a:r>
          </a:p>
        </p:txBody>
      </p:sp>
      <p:sp>
        <p:nvSpPr>
          <p:cNvPr id="23" name="Oval 22"/>
          <p:cNvSpPr/>
          <p:nvPr/>
        </p:nvSpPr>
        <p:spPr>
          <a:xfrm>
            <a:off x="4890000" y="2650000"/>
            <a:ext cx="130000" cy="13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00000" y="2600000"/>
            <a:ext cx="674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AF37"/>
                </a:solidFill>
                <a:latin typeface="Microsoft YaHei"/>
              </a:defRPr>
            </a:pPr>
            <a:r>
              <a:t>2010-2018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0000" y="2850000"/>
            <a:ext cx="674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纽约州长  NY Governor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0000" y="3130000"/>
            <a:ext cx="674136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Microsoft YaHei"/>
              </a:defRPr>
            </a:pPr>
            <a:r>
              <a:t>推动纽约州经济复苏，降低失业率，改善民生</a:t>
            </a:r>
          </a:p>
        </p:txBody>
      </p:sp>
      <p:sp>
        <p:nvSpPr>
          <p:cNvPr id="27" name="Oval 26"/>
          <p:cNvSpPr/>
          <p:nvPr/>
        </p:nvSpPr>
        <p:spPr>
          <a:xfrm>
            <a:off x="4890000" y="3850000"/>
            <a:ext cx="130000" cy="13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0000" y="3800000"/>
            <a:ext cx="674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AF37"/>
                </a:solidFill>
                <a:latin typeface="Microsoft YaHei"/>
              </a:defRPr>
            </a:pPr>
            <a:r>
              <a:t>2018-2022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0000" y="4050000"/>
            <a:ext cx="674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副总统  Vice President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0000" y="4330000"/>
            <a:ext cx="674136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Microsoft YaHei"/>
              </a:defRPr>
            </a:pPr>
            <a:r>
              <a:t>深受特朗普及共和党信任，主抓国内经济与基础设施</a:t>
            </a:r>
          </a:p>
        </p:txBody>
      </p:sp>
      <p:sp>
        <p:nvSpPr>
          <p:cNvPr id="31" name="Oval 30"/>
          <p:cNvSpPr/>
          <p:nvPr/>
        </p:nvSpPr>
        <p:spPr>
          <a:xfrm>
            <a:off x="4890000" y="5050000"/>
            <a:ext cx="130000" cy="13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0000" y="5000000"/>
            <a:ext cx="674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AF37"/>
                </a:solidFill>
                <a:latin typeface="Microsoft YaHei"/>
              </a:defRPr>
            </a:pPr>
            <a:r>
              <a:t>2024-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0000" y="5250000"/>
            <a:ext cx="674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总统候选人  Candidate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00000" y="5530000"/>
            <a:ext cx="674136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Microsoft YaHei"/>
              </a:defRPr>
            </a:pPr>
            <a:r>
              <a:t>以丰富的执政经验，带领美国走向新辉煌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51000"/>
            <a:ext cx="12191365" cy="7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ue_of_liber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80823">
              <a:alpha val="120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1000"/>
            <a:ext cx="12191365" cy="7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350000"/>
            <a:ext cx="10991365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我的愿景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850000"/>
            <a:ext cx="1099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Microsoft YaHei"/>
              </a:defRPr>
            </a:pPr>
            <a:r>
              <a:t>MY VISION FOR AMERICA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160000"/>
            <a:ext cx="900000" cy="5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5682" y="1600000"/>
            <a:ext cx="3400000" cy="3500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682" y="1600000"/>
            <a:ext cx="3400000" cy="5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682" y="1800000"/>
            <a:ext cx="3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D4AF37"/>
                </a:solidFill>
                <a:latin typeface="Microsoft YaHei"/>
              </a:defRPr>
            </a:pPr>
            <a: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682" y="2300000"/>
            <a:ext cx="3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强盛美国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682" y="2700000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AF37"/>
                </a:solidFill>
                <a:latin typeface="Microsoft YaHei"/>
              </a:defRPr>
            </a:pPr>
            <a:r>
              <a:t>Strong America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5682" y="3100000"/>
            <a:ext cx="600000" cy="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5682" y="3300000"/>
            <a:ext cx="2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  <a:latin typeface="Microsoft YaHei"/>
              </a:defRPr>
            </a:pPr>
            <a:r>
              <a:t>回流制造业，保障就业，</a:t>
            </a:r>
            <a:br/>
            <a:r>
              <a:t>让每一个美国家庭过上体面生活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5682" y="1600000"/>
            <a:ext cx="3400000" cy="3500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5682" y="1600000"/>
            <a:ext cx="3400000" cy="5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5682" y="1800000"/>
            <a:ext cx="3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D4AF37"/>
                </a:solidFill>
                <a:latin typeface="Microsoft YaHei"/>
              </a:defRPr>
            </a:pPr>
            <a: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5682" y="2300000"/>
            <a:ext cx="3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合作世界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5682" y="2700000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AF37"/>
                </a:solidFill>
                <a:latin typeface="Microsoft YaHei"/>
              </a:defRPr>
            </a:pPr>
            <a:r>
              <a:t>Cooperative World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5682" y="3100000"/>
            <a:ext cx="600000" cy="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5682" y="3300000"/>
            <a:ext cx="2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  <a:latin typeface="Microsoft YaHei"/>
              </a:defRPr>
            </a:pPr>
            <a:r>
              <a:t>与大国合作而非对抗，</a:t>
            </a:r>
            <a:br/>
            <a:r>
              <a:t>在全球格局中寻找共赢之路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5682" y="1600000"/>
            <a:ext cx="3400000" cy="3500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5682" y="1600000"/>
            <a:ext cx="3400000" cy="5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5682" y="1800000"/>
            <a:ext cx="3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D4AF37"/>
                </a:solidFill>
                <a:latin typeface="Microsoft YaHei"/>
              </a:defRPr>
            </a:pPr>
            <a:r>
              <a:t>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5682" y="2300000"/>
            <a:ext cx="3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公平社会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5682" y="2700000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AF37"/>
                </a:solidFill>
                <a:latin typeface="Microsoft YaHei"/>
              </a:defRPr>
            </a:pPr>
            <a:r>
              <a:t>Fair Society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45682" y="3100000"/>
            <a:ext cx="600000" cy="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5682" y="3300000"/>
            <a:ext cx="2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  <a:latin typeface="Microsoft YaHei"/>
              </a:defRPr>
            </a:pPr>
            <a:r>
              <a:t>全民医保，优质教育，</a:t>
            </a:r>
            <a:br/>
            <a:r>
              <a:t>让机会属于每一个美国人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0000" y="5958000"/>
            <a:ext cx="91913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4AF37"/>
                </a:solidFill>
                <a:latin typeface="Microsoft YaHei"/>
              </a:defRPr>
            </a:pPr>
            <a:r>
              <a:t>“让我们携手，建设一个更强大、更繁荣、更公平的美国”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0000" y="6258000"/>
            <a:ext cx="919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  <a:latin typeface="Microsoft YaHei"/>
              </a:defRPr>
            </a:pPr>
            <a:r>
              <a:t>“Together, let us build a stronger, more prosperous, fairer America.”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unt_rushm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80823">
              <a:alpha val="120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1000"/>
            <a:ext cx="12191365" cy="7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350000"/>
            <a:ext cx="10991365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经济政策：回流制造业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850000"/>
            <a:ext cx="1099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Microsoft YaHei"/>
              </a:defRPr>
            </a:pPr>
            <a:r>
              <a:t>ECONOMIC POLICY: BRING MANUFACTURING 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160000"/>
            <a:ext cx="900000" cy="5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0000" y="1500000"/>
            <a:ext cx="6200000" cy="4458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00" y="1700000"/>
            <a:ext cx="5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Microsoft YaHei"/>
              </a:defRPr>
            </a:pPr>
            <a:r>
              <a:t>☛  核心主张 / Core Policies</a:t>
            </a:r>
          </a:p>
        </p:txBody>
      </p:sp>
      <p:sp>
        <p:nvSpPr>
          <p:cNvPr id="10" name="Oval 9"/>
          <p:cNvSpPr/>
          <p:nvPr/>
        </p:nvSpPr>
        <p:spPr>
          <a:xfrm>
            <a:off x="700000" y="2200000"/>
            <a:ext cx="500000" cy="500000"/>
          </a:xfrm>
          <a:prstGeom prst="ellipse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000" y="2270000"/>
            <a:ext cx="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0000" y="2220000"/>
            <a:ext cx="5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减税激励  /  Tax Incentives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0000" y="248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  <a:latin typeface="Microsoft YaHei"/>
              </a:defRPr>
            </a:pPr>
            <a:r>
              <a:t>大幅降低制造业企业税负，吸引全球产业链回流</a:t>
            </a:r>
          </a:p>
        </p:txBody>
      </p:sp>
      <p:sp>
        <p:nvSpPr>
          <p:cNvPr id="14" name="Oval 13"/>
          <p:cNvSpPr/>
          <p:nvPr/>
        </p:nvSpPr>
        <p:spPr>
          <a:xfrm>
            <a:off x="700000" y="3100000"/>
            <a:ext cx="500000" cy="500000"/>
          </a:xfrm>
          <a:prstGeom prst="ellipse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000" y="3170000"/>
            <a:ext cx="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0000" y="3120000"/>
            <a:ext cx="5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就业优先  /  Jobs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0000" y="338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  <a:latin typeface="Microsoft YaHei"/>
              </a:defRPr>
            </a:pPr>
            <a:r>
              <a:t>创造数百万高薪制造岗位，重振中产阶级</a:t>
            </a:r>
          </a:p>
        </p:txBody>
      </p:sp>
      <p:sp>
        <p:nvSpPr>
          <p:cNvPr id="18" name="Oval 17"/>
          <p:cNvSpPr/>
          <p:nvPr/>
        </p:nvSpPr>
        <p:spPr>
          <a:xfrm>
            <a:off x="700000" y="4000000"/>
            <a:ext cx="500000" cy="500000"/>
          </a:xfrm>
          <a:prstGeom prst="ellipse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0000" y="4070000"/>
            <a:ext cx="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0000" y="4020000"/>
            <a:ext cx="5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能源自主  /  Energy Independence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0000" y="428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  <a:latin typeface="Microsoft YaHei"/>
              </a:defRPr>
            </a:pPr>
            <a:r>
              <a:t>扩大本土能源生产，降低工业成本</a:t>
            </a:r>
          </a:p>
        </p:txBody>
      </p:sp>
      <p:sp>
        <p:nvSpPr>
          <p:cNvPr id="22" name="Oval 21"/>
          <p:cNvSpPr/>
          <p:nvPr/>
        </p:nvSpPr>
        <p:spPr>
          <a:xfrm>
            <a:off x="700000" y="4900000"/>
            <a:ext cx="500000" cy="500000"/>
          </a:xfrm>
          <a:prstGeom prst="ellipse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0000" y="4970000"/>
            <a:ext cx="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0000" y="4920000"/>
            <a:ext cx="5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贸易公平  /  Fair Trade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0000" y="518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  <a:latin typeface="Microsoft YaHei"/>
              </a:defRPr>
            </a:pPr>
            <a:r>
              <a:t>重新谈判不公平贸易协定，保护美国利益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0000" y="1500000"/>
            <a:ext cx="4791365" cy="4458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00000" y="1700000"/>
            <a:ext cx="439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F37"/>
                </a:solidFill>
                <a:latin typeface="Microsoft YaHei"/>
              </a:defRPr>
            </a:pPr>
            <a:r>
              <a:t>目标 / Goals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95682" y="2000000"/>
            <a:ext cx="600000" cy="3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00000" y="2300000"/>
            <a:ext cx="43913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Microsoft YaHei"/>
              </a:defRPr>
            </a:pPr>
            <a:r>
              <a:t>1000万+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0000" y="2680000"/>
            <a:ext cx="439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新增就业</a:t>
            </a:r>
            <a:br/>
            <a:r>
              <a:t>New Jobs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0000" y="3500000"/>
            <a:ext cx="43913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Microsoft YaHei"/>
              </a:defRPr>
            </a:pPr>
            <a:r>
              <a:t>20%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0000" y="3880000"/>
            <a:ext cx="439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企业税率</a:t>
            </a:r>
            <a:br/>
            <a:r>
              <a:t>Corporate Tax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0000" y="4700000"/>
            <a:ext cx="43913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Microsoft YaHei"/>
              </a:defRPr>
            </a:pPr>
            <a:r>
              <a:t>5万亿$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00000" y="5080000"/>
            <a:ext cx="439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GDP增长</a:t>
            </a:r>
            <a:br/>
            <a:r>
              <a:t>GDP 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ue_of_liber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80823">
              <a:alpha val="120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1000"/>
            <a:ext cx="12191365" cy="7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350000"/>
            <a:ext cx="10991365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移民政策：有序与安全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850000"/>
            <a:ext cx="1099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Microsoft YaHei"/>
              </a:defRPr>
            </a:pPr>
            <a:r>
              <a:t>IMMIGRATION POLICY: ORDER AND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160000"/>
            <a:ext cx="900000" cy="5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0000" y="1500000"/>
            <a:ext cx="11391365" cy="4458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00" y="1700000"/>
            <a:ext cx="5195682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D2026"/>
                </a:solidFill>
                <a:latin typeface="Microsoft YaHei"/>
              </a:defRPr>
            </a:pPr>
            <a:r>
              <a:t>⛔  限制移民 / Restrict Immigration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000" y="2100000"/>
            <a:ext cx="569568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✖  全面禁止非法移民 / Ban illegal immigration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000" y="2420000"/>
            <a:ext cx="569568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✖  加强边境安全，修建边境屏障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000" y="2740000"/>
            <a:ext cx="569568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✖  建立择优积分移民制度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000" y="3060000"/>
            <a:ext cx="569568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✖  打击庇护城市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000" y="3380000"/>
            <a:ext cx="569568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✖  严格签证审核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000" y="1700000"/>
            <a:ext cx="5195682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Microsoft YaHei"/>
              </a:defRPr>
            </a:pPr>
            <a:r>
              <a:t>✔️  有序管理 / Orderly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0000" y="2100000"/>
            <a:ext cx="569568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✔  合法移民通道优化 / Optimize legal channels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0000" y="2420000"/>
            <a:ext cx="569568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✔  吸引高技能人才 / Attract skilled talent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0000" y="2740000"/>
            <a:ext cx="569568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✔  解决农业季节性劳工问题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0000" y="3060000"/>
            <a:ext cx="569568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✔  加强移民与社区融合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0000" y="3380000"/>
            <a:ext cx="569568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✔  保护合法移民权益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3682" y="2100000"/>
            <a:ext cx="4000" cy="1600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6058000"/>
            <a:ext cx="1059136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AF37"/>
                </a:solidFill>
                <a:latin typeface="Microsoft YaHei"/>
              </a:defRPr>
            </a:pPr>
            <a:r>
              <a:t>“合法移民欢迎你，非法移民不容你——法律至上”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6308000"/>
            <a:ext cx="1059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  <a:latin typeface="Microsoft YaHei"/>
              </a:defRPr>
            </a:pPr>
            <a:r>
              <a:t>“Legal immigrants welcome, illegal immigrants not tolerated.”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s_capit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80823">
              <a:alpha val="050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1000"/>
            <a:ext cx="12191365" cy="7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350000"/>
            <a:ext cx="10991365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外交政策：务实与合作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850000"/>
            <a:ext cx="1099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Microsoft YaHei"/>
              </a:defRPr>
            </a:pPr>
            <a:r>
              <a:t>FOREIGN POLICY: PRAGMATISM AND COOPERATION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160000"/>
            <a:ext cx="900000" cy="5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0000" y="1500000"/>
            <a:ext cx="11591365" cy="4458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1700000"/>
            <a:ext cx="1099136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Microsoft YaHei"/>
              </a:defRPr>
            </a:pPr>
            <a:r>
              <a:t>☛  重塑美国外交格局 / Reshaping America’s Foreign Relations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000" y="2200000"/>
            <a:ext cx="3600000" cy="2800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000" y="2200000"/>
            <a:ext cx="3600000" cy="5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000" y="2350000"/>
            <a:ext cx="3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2750000"/>
            <a:ext cx="3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中美合作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305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4AF37"/>
                </a:solidFill>
                <a:latin typeface="Microsoft YaHei"/>
              </a:defRPr>
            </a:pPr>
            <a:r>
              <a:t>China-US Cooperation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00000" y="3350000"/>
            <a:ext cx="500000" cy="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000" y="3450000"/>
            <a:ext cx="3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认同双极格局，与中国加强经济合作</a:t>
            </a:r>
            <a:br/>
            <a:r>
              <a:t>而非对抗，在贸易、气候等领域共赢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000" y="460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A"/>
                </a:solidFill>
                <a:latin typeface="Microsoft YaHei"/>
              </a:defRPr>
            </a:pPr>
            <a:r>
              <a:t>Bipolar world. Cooperate with China.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0000" y="2200000"/>
            <a:ext cx="3600000" cy="2800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0000" y="2200000"/>
            <a:ext cx="3600000" cy="5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00000" y="2350000"/>
            <a:ext cx="3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0000" y="2750000"/>
            <a:ext cx="3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盟友关系调整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0000" y="305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4AF37"/>
                </a:solidFill>
                <a:latin typeface="Microsoft YaHei"/>
              </a:defRPr>
            </a:pPr>
            <a:r>
              <a:t>Realign Alliances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0000" y="3350000"/>
            <a:ext cx="500000" cy="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0000" y="3450000"/>
            <a:ext cx="3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减少对欧洲扶持，重新评估对韩国</a:t>
            </a:r>
            <a:br/>
            <a:r>
              <a:t>和日本援助规模，盟友承担更多责任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0000" y="460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A"/>
                </a:solidFill>
                <a:latin typeface="Microsoft YaHei"/>
              </a:defRPr>
            </a:pPr>
            <a:r>
              <a:t>Reduce EU support, reassess SK/Japan aid.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0000" y="2200000"/>
            <a:ext cx="3600000" cy="2800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28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50000" y="2200000"/>
            <a:ext cx="3600000" cy="5000"/>
          </a:xfrm>
          <a:prstGeom prst="rect">
            <a:avLst/>
          </a:prstGeom>
          <a:solidFill>
            <a:srgbClr val="28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0000" y="2350000"/>
            <a:ext cx="3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0000" y="2750000"/>
            <a:ext cx="3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美国优先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0000" y="3050000"/>
            <a:ext cx="3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4AF37"/>
                </a:solidFill>
                <a:latin typeface="Microsoft YaHei"/>
              </a:defRPr>
            </a:pPr>
            <a:r>
              <a:t>America First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00000" y="3350000"/>
            <a:ext cx="500000" cy="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0000" y="3450000"/>
            <a:ext cx="3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以美国国家利益为外交核心</a:t>
            </a:r>
            <a:br/>
            <a:r>
              <a:t>不参与无益国际冲突，聚焦国内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0000" y="460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A"/>
                </a:solidFill>
                <a:latin typeface="Microsoft YaHei"/>
              </a:defRPr>
            </a:pPr>
            <a:r>
              <a:t>National interest first. Focus inward.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mes_squ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80823">
              <a:alpha val="120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1000"/>
            <a:ext cx="12191365" cy="7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350000"/>
            <a:ext cx="10991365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基建与全民医保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850000"/>
            <a:ext cx="1099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Microsoft YaHei"/>
              </a:defRPr>
            </a:pPr>
            <a:r>
              <a:t>INFRASTRUCTURE &amp; UNIVERSAL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160000"/>
            <a:ext cx="900000" cy="5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0000" y="1500000"/>
            <a:ext cx="11391365" cy="1600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00" y="165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Microsoft YaHei"/>
              </a:defRPr>
            </a:pPr>
            <a:r>
              <a:t>🏗️  基础设施重建 / Infrastructure Rebuild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2050000"/>
            <a:ext cx="5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▸  投入2万亿美元改造道路、桥梁、机场、港口 /  for roads, bridges, airports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00" y="2330000"/>
            <a:ext cx="5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▸  建设现代化高速铁路网络 / Build modern high-speed rail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2610000"/>
            <a:ext cx="5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▸  升级电网与宽带基础设施 / Upgrade power grid and broadband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00" y="2890000"/>
            <a:ext cx="5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▸  推动绿色能源基础设施建设 / Promote green energy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0000" y="165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D2026"/>
                </a:solidFill>
                <a:latin typeface="Microsoft YaHei"/>
              </a:defRPr>
            </a:pPr>
            <a:r>
              <a:t>🏥  全民医保 / Universal Healthcare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000" y="2050000"/>
            <a:ext cx="5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▸  推动全民医保覆盖 / Push for universal health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000" y="2330000"/>
            <a:ext cx="5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▸  降低处方药价格 / Lower prescription drug prices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000" y="2610000"/>
            <a:ext cx="5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▸  对大型企业增税以补贴医疗支出 / Tax big corps to fund healthcare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000" y="2890000"/>
            <a:ext cx="5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BEBF0"/>
                </a:solidFill>
                <a:latin typeface="Microsoft YaHei"/>
              </a:defRPr>
            </a:pPr>
            <a:r>
              <a:t>▸  加强医疗基础设施建设 / Strengthen medical infrastructure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3682" y="2000000"/>
            <a:ext cx="4000" cy="120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000" y="3400000"/>
            <a:ext cx="2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  <a:latin typeface="Microsoft YaHei"/>
              </a:defRPr>
            </a:pPr>
            <a:r>
              <a:t>万亿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000" y="3750000"/>
            <a:ext cx="2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C8D2"/>
                </a:solidFill>
                <a:latin typeface="Microsoft YaHei"/>
              </a:defRPr>
            </a:pPr>
            <a:r>
              <a:t>基建投资</a:t>
            </a:r>
            <a:br/>
            <a:r>
              <a:t>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0000" y="3400000"/>
            <a:ext cx="2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  <a:latin typeface="Microsoft YaHei"/>
              </a:defRPr>
            </a:pPr>
            <a:r>
              <a:t>500万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0000" y="3750000"/>
            <a:ext cx="2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C8D2"/>
                </a:solidFill>
                <a:latin typeface="Microsoft YaHei"/>
              </a:defRPr>
            </a:pPr>
            <a:r>
              <a:t>新增就业</a:t>
            </a:r>
            <a:br/>
            <a:r>
              <a:t>New Jobs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0000" y="3400000"/>
            <a:ext cx="2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  <a:latin typeface="Microsoft YaHei"/>
              </a:defRPr>
            </a:pPr>
            <a:r>
              <a:t>全民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0000" y="3750000"/>
            <a:ext cx="2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C8D2"/>
                </a:solidFill>
                <a:latin typeface="Microsoft YaHei"/>
              </a:defRPr>
            </a:pPr>
            <a:r>
              <a:t>医疗保障</a:t>
            </a:r>
            <a:br/>
            <a:r>
              <a:t>Healthcare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_york_c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80823">
              <a:alpha val="120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1000"/>
            <a:ext cx="12191365" cy="7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350000"/>
            <a:ext cx="10991365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教育改革：义务教育与选拔制度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850000"/>
            <a:ext cx="1099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Microsoft YaHei"/>
              </a:defRPr>
            </a:pPr>
            <a:r>
              <a:t>EDUCATION REFORM: COMPULSORY EDUCATION &amp; EXAMS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160000"/>
            <a:ext cx="900000" cy="5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0000" y="1500000"/>
            <a:ext cx="11391365" cy="4458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00" y="1700000"/>
            <a:ext cx="1099136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Microsoft YaHei"/>
              </a:defRPr>
            </a:pPr>
            <a:r>
              <a:t>☛  核心改革措施 / Key Reform Measures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215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00" y="215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普及九年义务教育  /  9-Year Compulsory 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BEBF0"/>
                </a:solidFill>
                <a:latin typeface="Microsoft YaHei"/>
              </a:defRPr>
            </a:pPr>
            <a:r>
              <a:t>全国统一的九年免费义务教育，确保每个美国孩子享受基础教育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0000" y="215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0000" y="215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考试选拔制度  /  Exam Selection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BEBF0"/>
                </a:solidFill>
                <a:latin typeface="Microsoft YaHei"/>
              </a:defRPr>
            </a:pPr>
            <a:r>
              <a:t>借鉴中国经验，建立全国统一的中考和高考制度，公平决定升学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360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00" y="36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教育质量提升  /  Quality Improvement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000" y="39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BEBF0"/>
                </a:solidFill>
                <a:latin typeface="Microsoft YaHei"/>
              </a:defRPr>
            </a:pPr>
            <a:r>
              <a:t>加强师资培训，提高待遇，更新课程，培养全球竞争力学生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0000" y="360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0000" y="36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职业教育并行  /  Vocational Education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0000" y="39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BEBF0"/>
                </a:solidFill>
                <a:latin typeface="Microsoft YaHei"/>
              </a:defRPr>
            </a:pPr>
            <a:r>
              <a:t>强化职业教育，为制造业回流提供充足技术人才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unt_rushm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80823">
              <a:alpha val="080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1000"/>
            <a:ext cx="12191365" cy="7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350000"/>
            <a:ext cx="10991365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为什么选我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850000"/>
            <a:ext cx="1099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Microsoft YaHei"/>
              </a:defRPr>
            </a:pPr>
            <a:r>
              <a:t>WHY VOTE FOR DING DONGXU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160000"/>
            <a:ext cx="900000" cy="5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0000" y="1500000"/>
            <a:ext cx="11391365" cy="4458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0000" y="1750000"/>
            <a:ext cx="2700000" cy="2100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0000" y="1750000"/>
            <a:ext cx="2700000" cy="5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000" y="1900000"/>
            <a:ext cx="2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🏛️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000" y="2250000"/>
            <a:ext cx="2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经验丰富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000" y="2550000"/>
            <a:ext cx="2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4AF37"/>
                </a:solidFill>
                <a:latin typeface="Microsoft YaHei"/>
              </a:defRPr>
            </a:pPr>
            <a:r>
              <a:t>Proven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50000" y="2850000"/>
            <a:ext cx="500000" cy="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000" y="2950000"/>
            <a:ext cx="2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  <a:latin typeface="Microsoft YaHei"/>
              </a:defRPr>
            </a:pPr>
            <a:r>
              <a:t>从基层议员到副总统</a:t>
            </a:r>
            <a:br/>
            <a:r>
              <a:t>30年公职，各级历练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0" y="1750000"/>
            <a:ext cx="2700000" cy="2100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00000" y="1750000"/>
            <a:ext cx="2700000" cy="5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000" y="1900000"/>
            <a:ext cx="2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🇺🇸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0" y="2250000"/>
            <a:ext cx="2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坚定爱国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0" y="2550000"/>
            <a:ext cx="2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4AF37"/>
                </a:solidFill>
                <a:latin typeface="Microsoft YaHei"/>
              </a:defRPr>
            </a:pPr>
            <a:r>
              <a:t>Deeply Patriotic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0000" y="2850000"/>
            <a:ext cx="500000" cy="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50000" y="2950000"/>
            <a:ext cx="2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  <a:latin typeface="Microsoft YaHei"/>
              </a:defRPr>
            </a:pPr>
            <a:r>
              <a:t>哈佛博士学成报国</a:t>
            </a:r>
            <a:br/>
            <a:r>
              <a:t>全心服务美国人民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0000" y="4000000"/>
            <a:ext cx="2700000" cy="2100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0000" y="4000000"/>
            <a:ext cx="2700000" cy="5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0000" y="4150000"/>
            <a:ext cx="2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000" y="4500000"/>
            <a:ext cx="2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实干精神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000" y="4800000"/>
            <a:ext cx="2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4AF37"/>
                </a:solidFill>
                <a:latin typeface="Microsoft YaHei"/>
              </a:defRPr>
            </a:pPr>
            <a:r>
              <a:t>Results-Oriented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50000" y="5100000"/>
            <a:ext cx="500000" cy="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5200000"/>
            <a:ext cx="2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  <a:latin typeface="Microsoft YaHei"/>
              </a:defRPr>
            </a:pPr>
            <a:r>
              <a:t>纽约州长时期经济全美前三</a:t>
            </a:r>
            <a:br/>
            <a:r>
              <a:t>降税减负，实绩说话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00000" y="4000000"/>
            <a:ext cx="2700000" cy="2100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CD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00000" y="4000000"/>
            <a:ext cx="2700000" cy="5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0000" y="4150000"/>
            <a:ext cx="2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0000" y="4500000"/>
            <a:ext cx="2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远见卓识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0000" y="4800000"/>
            <a:ext cx="2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4AF37"/>
                </a:solidFill>
                <a:latin typeface="Microsoft YaHei"/>
              </a:defRPr>
            </a:pPr>
            <a:r>
              <a:t>Visionary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00000" y="5100000"/>
            <a:ext cx="500000" cy="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50000" y="5200000"/>
            <a:ext cx="2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  <a:latin typeface="Microsoft YaHei"/>
              </a:defRPr>
            </a:pPr>
            <a:r>
              <a:t>把握世界格局变化</a:t>
            </a:r>
            <a:br/>
            <a:r>
              <a:t>务实外交赢得未来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merican_flag_eag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80823">
              <a:alpha val="120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365" cy="7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1000"/>
            <a:ext cx="12191365" cy="7000"/>
          </a:xfrm>
          <a:prstGeom prst="rect">
            <a:avLst/>
          </a:prstGeom>
          <a:solidFill>
            <a:srgbClr val="C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0000"/>
            <a:ext cx="12191365" cy="2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58000"/>
            <a:ext cx="12191365" cy="2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1119136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让美国再次伟大！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750000"/>
            <a:ext cx="111913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Microsoft YaHei"/>
              </a:defRPr>
            </a:pPr>
            <a:r>
              <a:t>MAKE AMERICA GREAT AGAIN!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2300000"/>
            <a:ext cx="1119136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D2026"/>
                </a:solidFill>
                <a:latin typeface="Microsoft YaHei"/>
              </a:defRPr>
            </a:pPr>
            <a:r>
              <a:t>★ · ★ · ★ · ★ · 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2700000"/>
            <a:ext cx="111913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请投我一票 — 丁东旭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3050000"/>
            <a:ext cx="1119136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F37"/>
                </a:solidFill>
                <a:latin typeface="Microsoft YaHei"/>
              </a:defRPr>
            </a:pPr>
            <a:r>
              <a:t>VOTE FOR ME — DING DONGXU FOR PRESIDENT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5682" y="3600000"/>
            <a:ext cx="5000000" cy="650000"/>
          </a:xfrm>
          <a:prstGeom prst="roundRect">
            <a:avLst/>
          </a:prstGeom>
          <a:solidFill>
            <a:srgbClr val="080823">
              <a:alpha val="70000000"/>
            </a:srgbClr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95682" y="3600000"/>
            <a:ext cx="5000000" cy="5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5682" y="3680000"/>
            <a:ext cx="4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“用心服务 · 用行担当 · 让美国再次伟大”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5682" y="3950000"/>
            <a:ext cx="4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4AF37"/>
                </a:solidFill>
                <a:latin typeface="Microsoft YaHei"/>
              </a:defRPr>
            </a:pPr>
            <a:r>
              <a:t>“Serve with heart. Lead with action. Make America Great Again.”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000" y="4650000"/>
            <a:ext cx="1119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C8D2"/>
                </a:solidFill>
                <a:latin typeface="Microsoft YaHei"/>
              </a:defRPr>
            </a:pPr>
            <a:r>
              <a:t>2024年美国总统大选 · 共和党候选人 · 丁东旭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00" y="4880000"/>
            <a:ext cx="1119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A"/>
                </a:solidFill>
                <a:latin typeface="Microsoft YaHei"/>
              </a:defRPr>
            </a:pPr>
            <a:r>
              <a:t>2024 U.S. Presidential Election · Republican Candidate · Ding Dongxu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