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8229600" y="0"/>
            <a:ext cx="4572000" cy="4572000"/>
          </a:xfrm>
          <a:prstGeom prst="ellipse">
            <a:avLst/>
          </a:prstGeom>
          <a:solidFill>
            <a:srgbClr val="D468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0" y="4572000"/>
            <a:ext cx="3657600" cy="3657600"/>
          </a:xfrm>
          <a:prstGeom prst="ellipse">
            <a:avLst/>
          </a:prstGeom>
          <a:solidFill>
            <a:srgbClr val="F0A05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058400" y="3657600"/>
            <a:ext cx="365760" cy="365760"/>
          </a:xfrm>
          <a:prstGeom prst="ellipse">
            <a:avLst/>
          </a:prstGeom>
          <a:solidFill>
            <a:srgbClr val="D468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0789920" y="4572000"/>
            <a:ext cx="274320" cy="274320"/>
          </a:xfrm>
          <a:prstGeom prst="ellipse">
            <a:avLst/>
          </a:prstGeom>
          <a:solidFill>
            <a:srgbClr val="F0A05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645285" y="2468880"/>
            <a:ext cx="1097280" cy="54610"/>
          </a:xfrm>
          <a:prstGeom prst="rect">
            <a:avLst/>
          </a:prstGeom>
          <a:solidFill>
            <a:srgbClr val="D468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371600" y="1737360"/>
            <a:ext cx="6858000" cy="347472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828800" y="1828800"/>
            <a:ext cx="59436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</a:rPr>
              <a:t>大二材料成型及控制工程一班</a:t>
            </a:r>
            <a:endParaRPr lang="zh-CN" altLang="en-US" sz="1600">
              <a:solidFill>
                <a:srgbClr val="D46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28800" y="2376805"/>
            <a:ext cx="59436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400" b="1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</a:t>
            </a:r>
            <a:r>
              <a:rPr lang="en-US" altLang="zh-CN" sz="4400" b="1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4400" b="1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</a:t>
            </a:r>
            <a:r>
              <a:rPr lang="en-US" altLang="zh-CN" sz="4400" b="1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4400" b="1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</a:t>
            </a:r>
            <a:r>
              <a:rPr lang="en-US" altLang="zh-CN" sz="4400" b="1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4400" b="1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</a:t>
            </a:r>
            <a:endParaRPr lang="zh-CN" altLang="en-US" sz="4400" b="1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28800" y="3291205"/>
            <a:ext cx="59436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</a:t>
            </a:r>
            <a:r>
              <a:rPr lang="en-US" altLang="zh-CN" sz="3200" b="1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3200" b="1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振</a:t>
            </a:r>
            <a:r>
              <a:rPr lang="en-US" altLang="zh-CN" sz="3200" b="1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3200" b="1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</a:t>
            </a:r>
            <a:endParaRPr lang="zh-CN" altLang="en-US" sz="3200" b="1">
              <a:solidFill>
                <a:srgbClr val="D468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28800" y="3931920"/>
            <a:ext cx="59436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用心服务</a:t>
            </a:r>
            <a:r>
              <a:rPr lang="en-US" altLang="zh-CN" sz="16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用行担当</a:t>
            </a:r>
            <a:endParaRPr lang="zh-CN" altLang="en-US" sz="16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6765925"/>
            <a:ext cx="12191365" cy="91440"/>
          </a:xfrm>
          <a:prstGeom prst="rect">
            <a:avLst/>
          </a:prstGeom>
          <a:solidFill>
            <a:srgbClr val="D468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D468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1520" y="914400"/>
            <a:ext cx="320040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关于我</a:t>
            </a:r>
            <a:endParaRPr lang="zh-CN" altLang="en-US"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1520" y="1554480"/>
            <a:ext cx="1371600" cy="3619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31520" y="1737360"/>
            <a:ext cx="32004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有经验</a:t>
            </a:r>
            <a:r>
              <a:rPr lang="en-US" altLang="zh-CN" sz="1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有热情</a:t>
            </a:r>
            <a:r>
              <a:rPr lang="en-US" altLang="zh-CN" sz="1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有担当</a:t>
            </a:r>
            <a:endParaRPr lang="zh-CN" altLang="en-US" sz="1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463040" y="2743200"/>
            <a:ext cx="1828800" cy="182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31520" y="4846320"/>
            <a:ext cx="32004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房振平</a:t>
            </a:r>
            <a:endParaRPr lang="zh-CN" altLang="en-US"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1520" y="5211445"/>
            <a:ext cx="32004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大二材料成型及控制工程一班</a:t>
            </a:r>
            <a:endParaRPr lang="zh-CN" altLang="en-US" sz="11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29200" y="457200"/>
            <a:ext cx="59436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00" b="1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我的经历</a:t>
            </a:r>
            <a:endParaRPr lang="zh-CN" altLang="en-US" sz="2600" b="1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86400" y="1279525"/>
            <a:ext cx="27305" cy="3840480"/>
          </a:xfrm>
          <a:prstGeom prst="rect">
            <a:avLst/>
          </a:prstGeom>
          <a:solidFill>
            <a:srgbClr val="F7DDC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5303520" y="1463040"/>
            <a:ext cx="365760" cy="365760"/>
          </a:xfrm>
          <a:prstGeom prst="ellipse">
            <a:avLst/>
          </a:prstGeom>
          <a:solidFill>
            <a:srgbClr val="D4684A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034405" y="1279525"/>
            <a:ext cx="5029200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700" b="1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初中</a:t>
            </a:r>
            <a:r>
              <a:rPr lang="en-US" altLang="zh-CN" sz="1700" b="1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700" b="1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班长（三年）</a:t>
            </a:r>
            <a:endParaRPr lang="zh-CN" altLang="en-US" sz="1700" b="1">
              <a:solidFill>
                <a:srgbClr val="D468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34405" y="1737360"/>
            <a:ext cx="50292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连续三年担任班长，积累了丰富的班级管理经验，善于组织协调与沟通</a:t>
            </a:r>
            <a:endParaRPr lang="zh-CN" altLang="en-US" sz="11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5303520" y="2743200"/>
            <a:ext cx="365760" cy="365760"/>
          </a:xfrm>
          <a:prstGeom prst="ellipse">
            <a:avLst/>
          </a:prstGeom>
          <a:solidFill>
            <a:srgbClr val="F0A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034405" y="2559685"/>
            <a:ext cx="5029200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700" b="1">
                <a:solidFill>
                  <a:srgbClr val="F0A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高中</a:t>
            </a:r>
            <a:r>
              <a:rPr lang="en-US" altLang="zh-CN" sz="1700" b="1">
                <a:solidFill>
                  <a:srgbClr val="F0A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700" b="1">
                <a:solidFill>
                  <a:srgbClr val="F0A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团支书</a:t>
            </a:r>
            <a:endParaRPr lang="zh-CN" altLang="en-US" sz="1700" b="1">
              <a:solidFill>
                <a:srgbClr val="F0A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34405" y="3016885"/>
            <a:ext cx="50292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负责团支部工作，搭建师生沟通桥梁，组织团日活动，提升班级凝聚力</a:t>
            </a:r>
            <a:endParaRPr lang="zh-CN" altLang="en-US" sz="11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303520" y="4023360"/>
            <a:ext cx="365760" cy="365760"/>
          </a:xfrm>
          <a:prstGeom prst="ellipse">
            <a:avLst/>
          </a:prstGeom>
          <a:solidFill>
            <a:srgbClr val="64A078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034405" y="3839845"/>
            <a:ext cx="5029200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700" b="1">
                <a:solidFill>
                  <a:srgbClr val="64A0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</a:t>
            </a:r>
            <a:r>
              <a:rPr lang="en-US" altLang="zh-CN" sz="1700" b="1">
                <a:solidFill>
                  <a:srgbClr val="64A0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700" b="1">
                <a:solidFill>
                  <a:srgbClr val="64A0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竞选班长</a:t>
            </a:r>
            <a:endParaRPr lang="zh-CN" altLang="en-US" sz="1700" b="1">
              <a:solidFill>
                <a:srgbClr val="64A0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034405" y="4297045"/>
            <a:ext cx="50292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以过去的经验为基础，用心服务材控一班，用行担当不负大家期盼</a:t>
            </a:r>
            <a:endParaRPr lang="zh-CN" altLang="en-US" sz="11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31520" y="457200"/>
            <a:ext cx="100584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我的优势</a:t>
            </a:r>
            <a:endParaRPr lang="zh-CN" altLang="en-US" sz="3000" b="1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1520" y="1005840"/>
            <a:ext cx="100584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3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为什么我可以胜任班长一职？</a:t>
            </a:r>
            <a:endParaRPr lang="zh-CN" altLang="en-US" sz="13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1520" y="1371600"/>
            <a:ext cx="2286000" cy="36195"/>
          </a:xfrm>
          <a:prstGeom prst="rect">
            <a:avLst/>
          </a:prstGeom>
          <a:solidFill>
            <a:srgbClr val="D468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31520" y="1737360"/>
            <a:ext cx="4754245" cy="2102485"/>
          </a:xfrm>
          <a:prstGeom prst="rect">
            <a:avLst/>
          </a:prstGeom>
          <a:solidFill>
            <a:srgbClr val="FFFFFF"/>
          </a:solidFill>
          <a:ln>
            <a:solidFill>
              <a:srgbClr val="D468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05840" y="2011680"/>
            <a:ext cx="6394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🏆</a:t>
            </a:r>
            <a:endParaRPr lang="zh-CN" altLang="en-US" sz="2800"/>
          </a:p>
        </p:txBody>
      </p:sp>
      <p:sp>
        <p:nvSpPr>
          <p:cNvPr id="10" name="文本框 9"/>
          <p:cNvSpPr txBox="1"/>
          <p:nvPr/>
        </p:nvSpPr>
        <p:spPr>
          <a:xfrm>
            <a:off x="1828800" y="2011680"/>
            <a:ext cx="3382645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700" b="1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</a:rPr>
              <a:t>组织经验丰富</a:t>
            </a:r>
            <a:endParaRPr lang="zh-CN" altLang="en-US" sz="1700" b="1">
              <a:solidFill>
                <a:srgbClr val="D46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28800" y="2559685"/>
            <a:ext cx="338264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初中三年班长</a:t>
            </a:r>
            <a:r>
              <a:rPr lang="en-US" altLang="zh-CN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高中团支书，深谙班级管理之道</a:t>
            </a:r>
            <a:endParaRPr lang="zh-CN" altLang="en-US" sz="11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43600" y="1737360"/>
            <a:ext cx="4754245" cy="2102485"/>
          </a:xfrm>
          <a:prstGeom prst="rect">
            <a:avLst/>
          </a:prstGeom>
          <a:solidFill>
            <a:srgbClr val="FFFFFF"/>
          </a:solidFill>
          <a:ln>
            <a:solidFill>
              <a:srgbClr val="F0A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217920" y="2011680"/>
            <a:ext cx="6394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🤝</a:t>
            </a:r>
            <a:endParaRPr lang="zh-CN" altLang="en-US" sz="2800"/>
          </a:p>
        </p:txBody>
      </p:sp>
      <p:sp>
        <p:nvSpPr>
          <p:cNvPr id="14" name="文本框 13"/>
          <p:cNvSpPr txBox="1"/>
          <p:nvPr/>
        </p:nvSpPr>
        <p:spPr>
          <a:xfrm>
            <a:off x="7040245" y="2011680"/>
            <a:ext cx="3382645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700" b="1">
                <a:solidFill>
                  <a:srgbClr val="F0A050"/>
                </a:solidFill>
                <a:latin typeface="微软雅黑" panose="020B0503020204020204" charset="-122"/>
                <a:ea typeface="微软雅黑" panose="020B0503020204020204" charset="-122"/>
              </a:rPr>
              <a:t>沟通能力出众</a:t>
            </a:r>
            <a:endParaRPr lang="zh-CN" altLang="en-US" sz="1700" b="1">
              <a:solidFill>
                <a:srgbClr val="F0A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040245" y="2559685"/>
            <a:ext cx="338264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善于倾听同学心声，搭建师生沟通桥梁</a:t>
            </a:r>
            <a:endParaRPr lang="zh-CN" altLang="en-US" sz="11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31520" y="4297045"/>
            <a:ext cx="4754245" cy="2103120"/>
          </a:xfrm>
          <a:prstGeom prst="rect">
            <a:avLst/>
          </a:prstGeom>
          <a:solidFill>
            <a:srgbClr val="FFFFFF"/>
          </a:solidFill>
          <a:ln>
            <a:solidFill>
              <a:srgbClr val="64A07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05840" y="4572000"/>
            <a:ext cx="6394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⭐</a:t>
            </a:r>
            <a:endParaRPr lang="zh-CN" altLang="en-US" sz="2800"/>
          </a:p>
        </p:txBody>
      </p:sp>
      <p:sp>
        <p:nvSpPr>
          <p:cNvPr id="18" name="文本框 17"/>
          <p:cNvSpPr txBox="1"/>
          <p:nvPr/>
        </p:nvSpPr>
        <p:spPr>
          <a:xfrm>
            <a:off x="1828800" y="4572000"/>
            <a:ext cx="3382645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700" b="1">
                <a:solidFill>
                  <a:srgbClr val="64A078"/>
                </a:solidFill>
                <a:latin typeface="微软雅黑" panose="020B0503020204020204" charset="-122"/>
                <a:ea typeface="微软雅黑" panose="020B0503020204020204" charset="-122"/>
              </a:rPr>
              <a:t>责任心强</a:t>
            </a:r>
            <a:endParaRPr lang="zh-CN" altLang="en-US" sz="1700" b="1">
              <a:solidFill>
                <a:srgbClr val="64A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28800" y="5120005"/>
            <a:ext cx="338264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做事有始有终，用心对待每一件事、每一个人</a:t>
            </a:r>
            <a:endParaRPr lang="zh-CN" altLang="en-US" sz="11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943600" y="4297045"/>
            <a:ext cx="4754245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B967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217920" y="4572000"/>
            <a:ext cx="6394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🚀</a:t>
            </a:r>
            <a:endParaRPr lang="zh-CN" altLang="en-US" sz="2800"/>
          </a:p>
        </p:txBody>
      </p:sp>
      <p:sp>
        <p:nvSpPr>
          <p:cNvPr id="22" name="文本框 21"/>
          <p:cNvSpPr txBox="1"/>
          <p:nvPr/>
        </p:nvSpPr>
        <p:spPr>
          <a:xfrm>
            <a:off x="7040245" y="4572000"/>
            <a:ext cx="3382645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700" b="1">
                <a:solidFill>
                  <a:srgbClr val="EB9678"/>
                </a:solidFill>
                <a:latin typeface="微软雅黑" panose="020B0503020204020204" charset="-122"/>
                <a:ea typeface="微软雅黑" panose="020B0503020204020204" charset="-122"/>
              </a:rPr>
              <a:t>执行力到位</a:t>
            </a:r>
            <a:endParaRPr lang="zh-CN" altLang="en-US" sz="1700" b="1">
              <a:solidFill>
                <a:srgbClr val="EB96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040245" y="5120005"/>
            <a:ext cx="338264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策划组织多次班级活动，让计划落地，让想法成真</a:t>
            </a:r>
            <a:endParaRPr lang="zh-CN" altLang="en-US" sz="11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1365" cy="54610"/>
          </a:xfrm>
          <a:prstGeom prst="rect">
            <a:avLst/>
          </a:prstGeom>
          <a:solidFill>
            <a:srgbClr val="D468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1520" y="457200"/>
            <a:ext cx="100584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施政纲领</a:t>
            </a:r>
            <a:endParaRPr lang="zh-CN" altLang="en-US" sz="3000" b="1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1520" y="1005840"/>
            <a:ext cx="100584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3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如果当选，我承诺用心做好以下四件事</a:t>
            </a:r>
            <a:endParaRPr lang="zh-CN" altLang="en-US" sz="13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520" y="1371600"/>
            <a:ext cx="2286000" cy="36195"/>
          </a:xfrm>
          <a:prstGeom prst="rect">
            <a:avLst/>
          </a:prstGeom>
          <a:solidFill>
            <a:srgbClr val="D468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508125" y="1919605"/>
            <a:ext cx="640080" cy="640080"/>
          </a:xfrm>
          <a:prstGeom prst="ellipse">
            <a:avLst/>
          </a:prstGeom>
          <a:solidFill>
            <a:srgbClr val="D468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508125" y="1974850"/>
            <a:ext cx="639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1520" y="2743200"/>
            <a:ext cx="2468880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700" b="1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</a:rPr>
              <a:t>沟通桥梁</a:t>
            </a:r>
            <a:endParaRPr lang="zh-CN" altLang="en-US" sz="1700" b="1">
              <a:solidFill>
                <a:srgbClr val="D46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1520" y="3291205"/>
            <a:ext cx="246888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定期收集同学意见，及时反馈给老师，让班级沟通零距离</a:t>
            </a:r>
            <a:endParaRPr lang="zh-CN" altLang="en-US" sz="11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343400" y="1919605"/>
            <a:ext cx="639445" cy="640080"/>
          </a:xfrm>
          <a:prstGeom prst="ellipse">
            <a:avLst/>
          </a:prstGeom>
          <a:solidFill>
            <a:srgbClr val="F0A05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343400" y="1974850"/>
            <a:ext cx="639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66160" y="2743200"/>
            <a:ext cx="2468880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700" b="1">
                <a:solidFill>
                  <a:srgbClr val="F0A050"/>
                </a:solidFill>
                <a:latin typeface="微软雅黑" panose="020B0503020204020204" charset="-122"/>
                <a:ea typeface="微软雅黑" panose="020B0503020204020204" charset="-122"/>
              </a:rPr>
              <a:t>班级活动</a:t>
            </a:r>
            <a:endParaRPr lang="zh-CN" altLang="en-US" sz="1700" b="1">
              <a:solidFill>
                <a:srgbClr val="F0A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66160" y="3291205"/>
            <a:ext cx="246888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每月组织有温度的班级活动，增强凝聚力，丰富课余生活</a:t>
            </a:r>
            <a:endParaRPr lang="zh-CN" altLang="en-US" sz="11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012045" y="1919605"/>
            <a:ext cx="640080" cy="640080"/>
          </a:xfrm>
          <a:prstGeom prst="ellipse">
            <a:avLst/>
          </a:prstGeom>
          <a:solidFill>
            <a:srgbClr val="64A0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0012045" y="1974850"/>
            <a:ext cx="639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235440" y="2743200"/>
            <a:ext cx="2468880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700" b="1">
                <a:solidFill>
                  <a:srgbClr val="64A078"/>
                </a:solidFill>
                <a:latin typeface="微软雅黑" panose="020B0503020204020204" charset="-122"/>
                <a:ea typeface="微软雅黑" panose="020B0503020204020204" charset="-122"/>
              </a:rPr>
              <a:t>学习氛围</a:t>
            </a:r>
            <a:endParaRPr lang="zh-CN" altLang="en-US" sz="1700" b="1">
              <a:solidFill>
                <a:srgbClr val="64A0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235440" y="3291205"/>
            <a:ext cx="246888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组建学习互助小组，共享资源，带动大家一起进步</a:t>
            </a:r>
            <a:endParaRPr lang="zh-CN" altLang="en-US" sz="11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8516600" y="1919605"/>
            <a:ext cx="639445" cy="640080"/>
          </a:xfrm>
          <a:prstGeom prst="ellipse">
            <a:avLst/>
          </a:prstGeom>
          <a:solidFill>
            <a:srgbClr val="EB96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8516600" y="1974850"/>
            <a:ext cx="639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738725" y="2743200"/>
            <a:ext cx="2468880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700" b="1">
                <a:solidFill>
                  <a:srgbClr val="EB9678"/>
                </a:solidFill>
                <a:latin typeface="微软雅黑" panose="020B0503020204020204" charset="-122"/>
                <a:ea typeface="微软雅黑" panose="020B0503020204020204" charset="-122"/>
              </a:rPr>
              <a:t>公平透明</a:t>
            </a:r>
            <a:endParaRPr lang="zh-CN" altLang="en-US" sz="1700" b="1">
              <a:solidFill>
                <a:srgbClr val="EB96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7738725" y="3291205"/>
            <a:ext cx="246888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3D2C2E"/>
                </a:solidFill>
                <a:latin typeface="微软雅黑" panose="020B0503020204020204" charset="-122"/>
                <a:ea typeface="微软雅黑" panose="020B0503020204020204" charset="-122"/>
              </a:rPr>
              <a:t>班级事务公开透明，尊重每一个人的声音，公平公正</a:t>
            </a:r>
            <a:endParaRPr lang="zh-CN" altLang="en-US" sz="1100">
              <a:solidFill>
                <a:srgbClr val="3D2C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5943600"/>
            <a:ext cx="12191365" cy="914400"/>
          </a:xfrm>
          <a:prstGeom prst="rect">
            <a:avLst/>
          </a:prstGeom>
          <a:solidFill>
            <a:srgbClr val="FFF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286000" y="5348605"/>
            <a:ext cx="73152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300">
                <a:solidFill>
                  <a:srgbClr val="D4684A"/>
                </a:solidFill>
                <a:latin typeface="微软雅黑" panose="020B0503020204020204" charset="-122"/>
                <a:ea typeface="微软雅黑" panose="020B0503020204020204" charset="-122"/>
              </a:rPr>
              <a:t>「用心服务材控一班，用行担当不负期盼」</a:t>
            </a:r>
            <a:endParaRPr lang="zh-CN" altLang="en-US" sz="1300">
              <a:solidFill>
                <a:srgbClr val="D46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D468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82880" y="182880"/>
            <a:ext cx="3200400" cy="3200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144000" y="4754245"/>
            <a:ext cx="3657600" cy="3657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772400" y="457200"/>
            <a:ext cx="2286000" cy="2286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1600" y="1645285"/>
            <a:ext cx="9144000" cy="675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用心服务</a:t>
            </a:r>
            <a:r>
              <a:rPr lang="en-US" altLang="zh-CN"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用行担当</a:t>
            </a:r>
            <a:endParaRPr lang="zh-CN" altLang="en-US" sz="3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71600" y="2559685"/>
            <a:ext cx="9144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请投我一票</a:t>
            </a:r>
            <a:endParaRPr lang="zh-CN" altLang="en-US" sz="2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71600" y="3200400"/>
            <a:ext cx="914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房振平</a:t>
            </a: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71600" y="3748405"/>
            <a:ext cx="9144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大二材料成型及控制工程一班</a:t>
            </a:r>
            <a:endParaRPr lang="zh-CN" altLang="en-US" sz="1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29200" y="4389120"/>
            <a:ext cx="1828800" cy="2730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286000" y="4572000"/>
            <a:ext cx="73152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你的每一票，都是我前行的动力</a:t>
            </a:r>
            <a:endParaRPr lang="zh-CN" altLang="en-US" sz="1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</Words>
  <Application>WPS 演示</Application>
  <PresentationFormat>宽屏</PresentationFormat>
  <Paragraphs>98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FYH</dc:creator>
  <cp:lastModifiedBy>房玉涵</cp:lastModifiedBy>
  <cp:revision>157</cp:revision>
  <dcterms:created xsi:type="dcterms:W3CDTF">2019-06-19T02:08:00Z</dcterms:created>
  <dcterms:modified xsi:type="dcterms:W3CDTF">2026-07-29T08:32:43Z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107AE56D49FF49B585C6F0A42ACBC587_11</vt:lpwstr>
  </property>
</Properties>
</file>